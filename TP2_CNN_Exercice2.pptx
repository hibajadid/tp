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2" y="-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660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274320" y="0"/>
            <a:ext cx="3703320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21792" y="2578608"/>
            <a:ext cx="2560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343400" y="132588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407408" y="44348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17136" y="4562856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Dataset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Cats vs Dogs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6784848" y="44348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894576" y="4562856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Objectif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Cat / Dog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162288" y="4434840"/>
            <a:ext cx="2103120" cy="960120"/>
          </a:xfrm>
          <a:prstGeom prst="roundRect">
            <a:avLst>
              <a:gd name="adj" fmla="val 5714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272016" y="4562856"/>
            <a:ext cx="1883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Méthode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ImageNet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60DF34-4742-5C4B-D485-36C4B786156D}"/>
              </a:ext>
            </a:extLst>
          </p:cNvPr>
          <p:cNvSpPr/>
          <p:nvPr/>
        </p:nvSpPr>
        <p:spPr>
          <a:xfrm>
            <a:off x="335902" y="4189445"/>
            <a:ext cx="2696547" cy="13622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Réaliser Par: Hiba Jadid</a:t>
            </a:r>
          </a:p>
          <a:p>
            <a:pPr algn="ctr"/>
            <a:r>
              <a:rPr lang="fr-MA" dirty="0"/>
              <a:t>Filière : IDSIA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E23BA-FD31-7DAA-8050-158233A2A535}"/>
              </a:ext>
            </a:extLst>
          </p:cNvPr>
          <p:cNvSpPr txBox="1"/>
          <p:nvPr/>
        </p:nvSpPr>
        <p:spPr>
          <a:xfrm>
            <a:off x="4026103" y="1234440"/>
            <a:ext cx="73479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2400" b="1" dirty="0"/>
              <a:t>                                       </a:t>
            </a:r>
            <a:r>
              <a:rPr lang="fr-MA" sz="2800" b="1" dirty="0"/>
              <a:t>Projet :</a:t>
            </a:r>
          </a:p>
          <a:p>
            <a:r>
              <a:rPr lang="fr-MA" sz="2400" b="1" dirty="0"/>
              <a:t> Classification binaire d’images de chats et de chiens à l’aide du Transfer Learning et de réseaux CNN pré-entraînés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1F"/>
                </a:solidFill>
              </a:rPr>
              <a:t>Historique de réalisation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600200" y="3264408"/>
            <a:ext cx="868680" cy="0"/>
          </a:xfrm>
          <a:prstGeom prst="line">
            <a:avLst/>
          </a:prstGeom>
          <a:noFill/>
          <a:ln w="20320">
            <a:solidFill>
              <a:srgbClr val="0B0F1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3611880" y="3264408"/>
            <a:ext cx="868680" cy="0"/>
          </a:xfrm>
          <a:prstGeom prst="line">
            <a:avLst/>
          </a:prstGeom>
          <a:noFill/>
          <a:ln w="20320">
            <a:solidFill>
              <a:srgbClr val="0B0F1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623560" y="3264408"/>
            <a:ext cx="868680" cy="0"/>
          </a:xfrm>
          <a:prstGeom prst="line">
            <a:avLst/>
          </a:prstGeom>
          <a:noFill/>
          <a:ln w="20320">
            <a:solidFill>
              <a:srgbClr val="0B0F1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635240" y="3264408"/>
            <a:ext cx="868680" cy="0"/>
          </a:xfrm>
          <a:prstGeom prst="line">
            <a:avLst/>
          </a:prstGeom>
          <a:noFill/>
          <a:ln w="20320">
            <a:solidFill>
              <a:srgbClr val="0B0F1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646920" y="3264408"/>
            <a:ext cx="868680" cy="0"/>
          </a:xfrm>
          <a:prstGeom prst="line">
            <a:avLst/>
          </a:prstGeom>
          <a:noFill/>
          <a:ln w="20320">
            <a:solidFill>
              <a:srgbClr val="0B0F14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914400" cy="91440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304495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1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Charger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88920" y="2852928"/>
            <a:ext cx="914400" cy="914400"/>
          </a:xfrm>
          <a:prstGeom prst="ellipse">
            <a:avLst/>
          </a:prstGeom>
          <a:solidFill>
            <a:srgbClr val="EAF8E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834640" y="304495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2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Prétraiter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852928"/>
            <a:ext cx="914400" cy="914400"/>
          </a:xfrm>
          <a:prstGeom prst="ellipse">
            <a:avLst/>
          </a:prstGeom>
          <a:solidFill>
            <a:srgbClr val="FFF2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46320" y="304495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3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Modèle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12280" y="2852928"/>
            <a:ext cx="914400" cy="914400"/>
          </a:xfrm>
          <a:prstGeom prst="ellipse">
            <a:avLst/>
          </a:prstGeom>
          <a:solidFill>
            <a:srgbClr val="EEE7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58000" y="304495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4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Entraîner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823960" y="2852928"/>
            <a:ext cx="914400" cy="914400"/>
          </a:xfrm>
          <a:prstGeom prst="ellipse">
            <a:avLst/>
          </a:prstGeom>
          <a:solidFill>
            <a:srgbClr val="FCE8E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869680" y="304495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5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Évaluer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835640" y="2852928"/>
            <a:ext cx="914400" cy="914400"/>
          </a:xfrm>
          <a:prstGeom prst="ellipse">
            <a:avLst/>
          </a:prstGeom>
          <a:solidFill>
            <a:srgbClr val="E7F7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881360" y="3044952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6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71A1F"/>
                </a:solidFill>
              </a:rPr>
              <a:t>Analyser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1234440"/>
            <a:ext cx="101498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71A1F"/>
                </a:solidFill>
              </a:rPr>
              <a:t>• On charge le dataset Cats vs Dogs avec TensorFlow Datasets.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71A1F"/>
                </a:solidFill>
              </a:rPr>
              <a:t>• On redimensionne les images et on prépare les batches pour Colab.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71A1F"/>
                </a:solidFill>
              </a:rPr>
              <a:t>• On applique le transfert learning avec des modèles pré-entraînés sur ImageNet.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71A1F"/>
                </a:solidFill>
              </a:rPr>
              <a:t>• On compare les performances puis on analyse les erreurs et les feature maps.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/>
              <a:t>Introduction </a:t>
            </a:r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41248" y="163677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Dataset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Cats vs Dogs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93008" y="163677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Entrée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224 × 224 × 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035040" y="15087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2E8"/>
          </a:solidFill>
          <a:ln w="12700">
            <a:solidFill>
              <a:srgbClr val="FFF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44768" y="163677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Modèles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ImageNet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686800" y="15087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EEE7FF"/>
          </a:solidFill>
          <a:ln w="12700">
            <a:solidFill>
              <a:srgbClr val="EEE7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796528" y="1636776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Sortie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Cat / Dog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2011680" y="324612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CE8E8"/>
          </a:solidFill>
          <a:ln w="12700">
            <a:solidFill>
              <a:srgbClr val="FCE8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2121408" y="3374136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Métriques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Accuracy, F1, AUC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4892040" y="324612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E7F7FA"/>
          </a:solidFill>
          <a:ln w="12700">
            <a:solidFill>
              <a:srgbClr val="E7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01768" y="3374136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Analyse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Feature maps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772400" y="324612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882128" y="3374136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Comparaison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71A1F"/>
                </a:solidFill>
              </a:rPr>
              <a:t>Vitesse / précision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097280" y="4892040"/>
            <a:ext cx="99669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71A1F"/>
                </a:solidFill>
              </a:rPr>
              <a:t>• Le problème est une classification binaire : chat ou chien.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71A1F"/>
                </a:solidFill>
              </a:rPr>
              <a:t>• Le transfert learning réutilise des connaissances apprises sur ImageNet.</a:t>
            </a:r>
            <a:endParaRPr lang="en-US" sz="1850" dirty="0"/>
          </a:p>
          <a:p>
            <a:pPr marL="0" indent="0">
              <a:buNone/>
            </a:pPr>
            <a:r>
              <a:rPr lang="en-US" sz="1850" dirty="0">
                <a:solidFill>
                  <a:srgbClr val="171A1F"/>
                </a:solidFill>
              </a:rPr>
              <a:t>• La comparaison aide à choisir le meilleur modèle selon précision, temps et taille.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3</a:t>
            </a:r>
            <a:endParaRPr lang="en-US" sz="6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94B381-E4DD-C69A-719F-2081DA68B74E}"/>
              </a:ext>
            </a:extLst>
          </p:cNvPr>
          <p:cNvSpPr/>
          <p:nvPr/>
        </p:nvSpPr>
        <p:spPr>
          <a:xfrm>
            <a:off x="1184988" y="4375404"/>
            <a:ext cx="2198292" cy="3749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MA" sz="2400" b="1" dirty="0"/>
              <a:t>Objectif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1F"/>
                </a:solidFill>
              </a:rPr>
              <a:t>1 - chargement Cats vs Dogs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132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On prépare le dataset TensorFlow Datasets pour une classification binaire.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57784" y="10332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ÉTAPE 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4992624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</a:rPr>
              <a:t>Exécution Colab / résultat affiché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086600" y="1234440"/>
            <a:ext cx="0" cy="5230368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7388352" y="1783080"/>
            <a:ext cx="429768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tfds.load télécharge et prépare automatiquement Cats vs Dogs.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Le dataset est découpé en train, validation et test.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as_supervised=True renvoie directement image et label.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Les classes sont binaires : 0 pour Cat et 1 pour Dog.</a:t>
            </a:r>
          </a:p>
          <a:p>
            <a:pPr marL="0" indent="0">
              <a:buNone/>
            </a:pPr>
            <a:endParaRPr lang="en-US" sz="1530" dirty="0">
              <a:solidFill>
                <a:srgbClr val="171A1F"/>
              </a:solidFill>
            </a:endParaRPr>
          </a:p>
          <a:p>
            <a:pPr marL="0" indent="0">
              <a:buNone/>
            </a:pPr>
            <a:endParaRPr lang="en-US" sz="1530" dirty="0">
              <a:solidFill>
                <a:srgbClr val="171A1F"/>
              </a:solidFill>
            </a:endParaRPr>
          </a:p>
          <a:p>
            <a:pPr marL="0" indent="0">
              <a:buNone/>
            </a:pPr>
            <a:endParaRPr lang="en-US" sz="1530" dirty="0">
              <a:solidFill>
                <a:srgbClr val="171A1F"/>
              </a:solidFill>
            </a:endParaRPr>
          </a:p>
          <a:p>
            <a:pPr marL="0" indent="0">
              <a:buNone/>
            </a:pPr>
            <a:endParaRPr lang="en-US" sz="1530" dirty="0">
              <a:solidFill>
                <a:srgbClr val="171A1F"/>
              </a:solidFill>
            </a:endParaRPr>
          </a:p>
          <a:p>
            <a:pPr marL="0" indent="0">
              <a:buNone/>
            </a:pPr>
            <a:endParaRPr lang="en-US" sz="1530" dirty="0">
              <a:solidFill>
                <a:srgbClr val="171A1F"/>
              </a:solidFill>
            </a:endParaRPr>
          </a:p>
          <a:p>
            <a:pPr marL="0" indent="0">
              <a:buNone/>
            </a:pPr>
            <a:endParaRPr lang="en-US" sz="1530" dirty="0">
              <a:solidFill>
                <a:srgbClr val="171A1F"/>
              </a:solidFill>
            </a:endParaRPr>
          </a:p>
          <a:p>
            <a:r>
              <a:rPr lang="fr-MA" sz="1600" dirty="0"/>
              <a:t>Dans cette première étape, je charge le </a:t>
            </a:r>
            <a:r>
              <a:rPr lang="fr-MA" sz="1600" dirty="0" err="1"/>
              <a:t>dataset</a:t>
            </a:r>
            <a:r>
              <a:rPr lang="fr-MA" sz="1600" dirty="0"/>
              <a:t> Cats vs </a:t>
            </a:r>
            <a:r>
              <a:rPr lang="fr-MA" sz="1600" dirty="0" err="1"/>
              <a:t>Dogs</a:t>
            </a:r>
            <a:r>
              <a:rPr lang="fr-MA" sz="1600" dirty="0"/>
              <a:t> et je le divise en 80 % pour l’entraînement, 10 % pour la validation et 10 % pour le test.</a:t>
            </a:r>
            <a:endParaRPr lang="en-US" sz="1530" dirty="0"/>
          </a:p>
        </p:txBody>
      </p:sp>
      <p:sp>
        <p:nvSpPr>
          <p:cNvPr id="15" name="Text 11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4</a:t>
            </a:r>
            <a:endParaRPr lang="en-US" sz="6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E4EA1D-BCFC-4C7E-5D94-F6FC595E6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382" y="1424720"/>
            <a:ext cx="5822365" cy="34581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661386-1890-EF75-6159-40998F074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451" y="5188007"/>
            <a:ext cx="3595107" cy="1468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1F"/>
                </a:solidFill>
              </a:rPr>
              <a:t> 2 — prétraitement et augmentation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132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On redimensionne les images et on ajoute des transformations pour limiter le surapprentissage.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57784" y="10332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ÉTAPE 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086600" y="1234440"/>
            <a:ext cx="0" cy="5230368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388352" y="1783080"/>
            <a:ext cx="429768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Les modèles pré-entraînés utilisent souvent des images de taille fixe.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resize adapte chaque image en 224 × 224 pixels.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RandomFlip, RandomRotation et RandomZoom créent des variantes réalistes.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prefetch optimise le chargement des données dans </a:t>
            </a:r>
            <a:r>
              <a:rPr lang="en-US" sz="1530" dirty="0" err="1">
                <a:solidFill>
                  <a:srgbClr val="171A1F"/>
                </a:solidFill>
              </a:rPr>
              <a:t>Colab</a:t>
            </a:r>
            <a:r>
              <a:rPr lang="en-US" sz="1530" dirty="0">
                <a:solidFill>
                  <a:srgbClr val="171A1F"/>
                </a:solidFill>
              </a:rPr>
              <a:t>.</a:t>
            </a:r>
          </a:p>
          <a:p>
            <a:pPr marL="0" indent="0">
              <a:buNone/>
            </a:pPr>
            <a:endParaRPr lang="en-US" sz="1530" dirty="0">
              <a:solidFill>
                <a:srgbClr val="171A1F"/>
              </a:solidFill>
            </a:endParaRPr>
          </a:p>
          <a:p>
            <a:pPr marL="0" indent="0">
              <a:buNone/>
            </a:pPr>
            <a:endParaRPr lang="en-US" sz="1530" dirty="0">
              <a:solidFill>
                <a:srgbClr val="171A1F"/>
              </a:solidFill>
            </a:endParaRPr>
          </a:p>
          <a:p>
            <a:r>
              <a:rPr lang="en-US" sz="1530" dirty="0">
                <a:solidFill>
                  <a:srgbClr val="171A1F"/>
                </a:solidFill>
              </a:rPr>
              <a:t>NB: </a:t>
            </a:r>
            <a:r>
              <a:rPr lang="fr-MA" sz="1600" dirty="0"/>
              <a:t>Je redimensionne les images, je normalise les pixels entre zéro et un, puis j’applique des transformations pour éviter le surapprentissage.</a:t>
            </a:r>
            <a:endParaRPr lang="en-US" sz="1530" dirty="0"/>
          </a:p>
        </p:txBody>
      </p:sp>
      <p:sp>
        <p:nvSpPr>
          <p:cNvPr id="13" name="Text 10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5</a:t>
            </a:r>
            <a:endParaRPr lang="en-US" sz="6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B55C3F6-763F-5065-7328-2D29DD5BB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88007"/>
            <a:ext cx="6516009" cy="35247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214DB01-3DAA-CB19-747D-FD2AA52F0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09" y="5104773"/>
            <a:ext cx="3162741" cy="1105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1F"/>
                </a:solidFill>
              </a:rPr>
              <a:t>3 — modèle de transfert learning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132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Une fonction construit la tête de classification au-dessus d’un modèle ImageNet.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57784" y="10332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ÉTAPE 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086600" y="1234440"/>
            <a:ext cx="0" cy="5230368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388352" y="1783080"/>
            <a:ext cx="429768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include_top=False enlève la classification ImageNet originale.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base_model.trainable=False gèle les couches convolutionnelles.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GlobalAveragePooling2D transforme les feature maps en vecteur compact.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Dense(1, sigmoid) donne la probabilité de la classe Dog.</a:t>
            </a:r>
            <a:endParaRPr lang="en-US" sz="1530" dirty="0"/>
          </a:p>
        </p:txBody>
      </p:sp>
      <p:sp>
        <p:nvSpPr>
          <p:cNvPr id="13" name="Text 10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6</a:t>
            </a:r>
            <a:endParaRPr lang="en-US" sz="6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17F8DD9-1119-2CFF-7B05-9D76E9FDA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335024"/>
            <a:ext cx="6563641" cy="35628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6CC90E-6FEC-4BB1-29D7-4DF55DB60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5048587"/>
            <a:ext cx="6325483" cy="1457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1F"/>
                </a:solidFill>
              </a:rPr>
              <a:t>4 — entraînement et comparaison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132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On teste plusieurs architectures pour comparer leurs performances.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57784" y="10332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ÉTAPE 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4992624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</a:rPr>
              <a:t> résultat affiché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086600" y="1234440"/>
            <a:ext cx="0" cy="5230368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7388352" y="1783080"/>
            <a:ext cx="429768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VGG16 est simple à expliquer mais plus lourd.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MobileNetV2 est rapide et adapté aux ressources limitées.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ResNet50 utilise des connexions résiduelles pour apprendre plus profondément.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EfficientNetB0 propose souvent un bon compromis précision / vitesse.</a:t>
            </a:r>
            <a:endParaRPr lang="en-US" sz="1530" dirty="0"/>
          </a:p>
        </p:txBody>
      </p:sp>
      <p:sp>
        <p:nvSpPr>
          <p:cNvPr id="15" name="Text 11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7</a:t>
            </a:r>
            <a:endParaRPr lang="en-US" sz="6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0F6A65-4FEE-1C94-9D3D-AFBAF87A2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92" y="1376330"/>
            <a:ext cx="6221571" cy="36071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64F02AF-D69F-4923-9498-E07D82708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922" y="5271796"/>
            <a:ext cx="3332791" cy="12112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1F"/>
                </a:solidFill>
              </a:rPr>
              <a:t>5 — métriques ROC / AUC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132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On évalue le meilleur modèle avec des métriques plus complètes que l’accuracy.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57784" y="10332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ÉTAPE 5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48640" y="4992624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5B6472"/>
                </a:solidFill>
              </a:rPr>
              <a:t>résultat</a:t>
            </a:r>
            <a:r>
              <a:rPr lang="en-US" sz="1050" b="1" dirty="0">
                <a:solidFill>
                  <a:srgbClr val="5B6472"/>
                </a:solidFill>
              </a:rPr>
              <a:t> affiché</a:t>
            </a:r>
            <a:endParaRPr lang="en-US" sz="1050" dirty="0"/>
          </a:p>
        </p:txBody>
      </p:sp>
      <p:pic>
        <p:nvPicPr>
          <p:cNvPr id="12" name="Image 2" descr="/mnt/data/tp2_assets_mod/out10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721608"/>
            <a:ext cx="4809744" cy="28895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086600" y="1234440"/>
            <a:ext cx="0" cy="5230368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0"/>
          <p:cNvSpPr/>
          <p:nvPr/>
        </p:nvSpPr>
        <p:spPr>
          <a:xfrm>
            <a:off x="7388352" y="1783080"/>
            <a:ext cx="429768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classification_report donne précision, rappel et F1-score.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La matrice de confusion montre les erreurs Cat/Dog.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ROC analyse le comportement du modèle selon différents seuils.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AUC proche de 1 signifie que le modèle sépare bien les deux classes.</a:t>
            </a:r>
            <a:endParaRPr lang="en-US" sz="1530" dirty="0"/>
          </a:p>
        </p:txBody>
      </p:sp>
      <p:sp>
        <p:nvSpPr>
          <p:cNvPr id="16" name="Text 11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8</a:t>
            </a:r>
            <a:endParaRPr lang="en-US" sz="6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16DBBC-28A9-4802-3497-D387B62A4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6527656" cy="35478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6C2A42-743E-EAC8-F096-61472C62D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1" y="5219664"/>
            <a:ext cx="2948472" cy="12451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1F"/>
                </a:solidFill>
              </a:rPr>
              <a:t>6  — analyse des feature maps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132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La visualisation des feature maps aide à comprendre ce que le CNN détecte.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143000" cy="292608"/>
          </a:xfrm>
          <a:prstGeom prst="roundRect">
            <a:avLst>
              <a:gd name="adj" fmla="val 15625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57784" y="103327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ÉTAPE 6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 flipH="1">
            <a:off x="5943600" y="4992623"/>
            <a:ext cx="1645920" cy="932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472"/>
                </a:solidFill>
              </a:rPr>
              <a:t> résultat affiché</a:t>
            </a:r>
            <a:endParaRPr lang="en-US" sz="1050" dirty="0"/>
          </a:p>
        </p:txBody>
      </p:sp>
      <p:pic>
        <p:nvPicPr>
          <p:cNvPr id="11" name="Image 1" descr="/mnt/data/tp2_assets_mod/out11_feature_m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8351" y="3684752"/>
            <a:ext cx="4347974" cy="27803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086600" y="1234440"/>
            <a:ext cx="0" cy="5230368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7388352" y="1783080"/>
            <a:ext cx="4297680" cy="4434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On crée un modèle intermédiaire pour récupérer une couche interne.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feature_maps représente les activations produites par le CNN.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Les premières couches détectent souvent bords, textures et contrastes.</a:t>
            </a:r>
            <a:endParaRPr lang="en-US" sz="1530" dirty="0"/>
          </a:p>
          <a:p>
            <a:pPr marL="0" indent="0">
              <a:buNone/>
            </a:pPr>
            <a:r>
              <a:rPr lang="en-US" sz="1530" dirty="0">
                <a:solidFill>
                  <a:srgbClr val="171A1F"/>
                </a:solidFill>
              </a:rPr>
              <a:t>• Cette étape rend le modèle plus interprétable pour la présentation.</a:t>
            </a:r>
            <a:endParaRPr lang="en-US" sz="1530" dirty="0"/>
          </a:p>
        </p:txBody>
      </p:sp>
      <p:sp>
        <p:nvSpPr>
          <p:cNvPr id="15" name="Text 11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9</a:t>
            </a:r>
            <a:endParaRPr lang="en-US" sz="6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74F507E-972A-1A58-BC1D-873BFBD74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68" y="1289304"/>
            <a:ext cx="6638731" cy="36871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9EEF6"/>
          </a:solidFill>
          <a:ln w="12700">
            <a:solidFill>
              <a:srgbClr val="E9EE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6693408"/>
            <a:ext cx="7132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B6472"/>
                </a:solidFill>
              </a:rPr>
              <a:t>Exercice 2 — Cats vs Dogs | Transfer Learning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502920" y="2743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1A1F"/>
                </a:solidFill>
              </a:rPr>
              <a:t>Conclusion 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21208" y="713232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</a:rPr>
              <a:t>Résumé final pour la classification Cats vs Dogs.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</a:rPr>
              <a:t>Ce qu’on a fait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719072"/>
            <a:ext cx="48920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1A1F"/>
                </a:solidFill>
              </a:rPr>
              <a:t>• Chargement du dataset Cats vs Dogs.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1A1F"/>
                </a:solidFill>
              </a:rPr>
              <a:t>• Prétraitement des images en 224 × 224 pixels.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1A1F"/>
                </a:solidFill>
              </a:rPr>
              <a:t>• Construction d’un modèle avec transfert learning.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1A1F"/>
                </a:solidFill>
              </a:rPr>
              <a:t>• Entraînement et comparaison de plusieurs architectures.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A34A"/>
                </a:solidFill>
              </a:rPr>
              <a:t>Ce qu’on analyse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0" y="1719072"/>
            <a:ext cx="489204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71A1F"/>
                </a:solidFill>
              </a:rPr>
              <a:t>• Accuracy pour la performance globale.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1A1F"/>
                </a:solidFill>
              </a:rPr>
              <a:t>• Précision, rappel et F1-score pour les erreurs.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1A1F"/>
                </a:solidFill>
              </a:rPr>
              <a:t>• ROC / AUC pour la séparation Cat vs Dog.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1A1F"/>
                </a:solidFill>
              </a:rPr>
              <a:t>• Feature maps pour comprendre les zones détectées.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188720" y="4617720"/>
            <a:ext cx="98755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1481328" y="480974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171A1F"/>
                </a:solidFill>
              </a:rPr>
              <a:t>Conclusion : le transfert learning permet de créer un classificateur chat/chien performant plus rapidement, car le modèle réutilise des caractéristiques visuelles déjà apprises sur ImageNet.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576304" y="6684264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5B6472"/>
                </a:solidFill>
              </a:rPr>
              <a:t>10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3433</TotalTime>
  <Words>870</Words>
  <Application>Microsoft Office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Exercice 2 - Transfer Learning Cats vs Dogs</dc:title>
  <dc:subject>TP2 CNN Partie 2 - Exercice 2 uniquement</dc:subject>
  <dc:creator>OpenAI</dc:creator>
  <cp:lastModifiedBy>Taha Jadid</cp:lastModifiedBy>
  <cp:revision>19</cp:revision>
  <dcterms:created xsi:type="dcterms:W3CDTF">2026-07-12T15:34:32Z</dcterms:created>
  <dcterms:modified xsi:type="dcterms:W3CDTF">2026-07-20T16:55:14Z</dcterms:modified>
</cp:coreProperties>
</file>